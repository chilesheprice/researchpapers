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0D47A1"/>
                </a:solidFill>
              </a:defRPr>
            </a:pPr>
            <a:r>
              <a:t>Menopause and the Heart: 10 Years Later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1976D2"/>
                </a:solidFill>
              </a:defRPr>
            </a:pPr>
            <a:r>
              <a:t>A 2026 Update • Chileshe Nkonde-Price, MD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What Has Changed Since 2015?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Timing hypothesis validated through multiple lines of evidence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Long-term follow-up data from KEEPS, WHI, ELITE, and other major trials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American Heart Association 2020 Scientific Statement on menopause and CVD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Development of risk-stratified, individualized approaches to MHT</a:t>
            </a:r>
          </a:p>
          <a:p>
            <a:pPr>
              <a:spcAft>
                <a:spcPts val="1200"/>
              </a:spcAft>
              <a:defRPr sz="1800" b="1">
                <a:solidFill>
                  <a:srgbClr val="C62828"/>
                </a:solidFill>
              </a:defRPr>
            </a:pPr>
            <a:r>
              <a:t>FDA removes black box warnings from hormone therapy (November 2025)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Shift from fear-based avoidance to evidence-based personalized care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The Timing Hypothesis: Now Evidence-Based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2015: Speculative concept to explain study discordances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2026: Robust clinical framework supported by extensive data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Key principle: Same therapy can be beneficial, neutral, or harmful depending on TIMING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Early initiation (&lt;10 years post-menopause, age &lt;60):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Reduced coronary heart disease (RR 0.52)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Decreased all-cause mortality (RR 0.70)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Late initiation (&gt;10 years, age &gt;60):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Neutral to increased cardiovascular risk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No benefit for primary prevention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Long-Term Trial Results (2015-2026)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KEEPS Continuation (14-year follow-up):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No increase in CVD events with early MHT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Trend toward lower diabetes incidence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Confirms safety of short-term early intervention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Extended WHI Analysis (20+ years):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Age 50-59 at initiation: ↓ mortality, ↓ CHD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Age 70-79 at initiation: ↑ cardiovascular events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Reinforces critical importance of timing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Meta-analysis (40,000+ women, 2022):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Early MHT: 48% ↓ in CHD, 30% ↓ in mortality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American Heart Association Statement (2020)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Published November 2020: landmark recognition of menopause-CVD link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Key Finding: Menopausal transition itself accelerates CVD risk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Vasomotor symptoms are not just quality-of-life issues: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Associated with subclinical atherosclerosis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Linked to adverse cardiovascular risk profiles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Menopause transition = critical window for prevention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Earlier age at menopause = higher CVD risk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Reframed menopause as cardiovascular risk factor, not just hormone deficiency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FDA Historic Decision: November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 b="1">
                <a:solidFill>
                  <a:srgbClr val="C62828"/>
                </a:solidFill>
              </a:defRPr>
            </a:pPr>
            <a:r>
              <a:t>BLACK BOX WARNINGS REMOVED from all MHT products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Expert panel convened July 2025, decision announced November 10, 2025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What's being removed: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Warnings for cardiovascular disease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Warnings for stroke and dementia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Broad contraindications based on WHI data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What's RETAINED: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Endometrial cancer warning (unopposed estrogen)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Implementation: New labels within 6 months (Spring 2026)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Why Did the FDA Remove the Warnings?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Original warnings based on WHI population (mean age 63)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Not representative of typical MHT users (ages 50-55)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Age-stratified analyses showed younger women benefited or had neutral outcomes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Absolute risk increases were small, even in older WHI participants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Black box warnings created 'chilling effect':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66% decline in prescriptions post-2002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Millions of women suffered with untreated symptoms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Modern evidence supports safety in appropriately selected women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Labels now include age-specific guidance emphasizing timing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Contemporary Risk Stratification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LOW RISK: Age &lt;60, &lt;10 years post-menopause, no CVD/risk factors, CAC=0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→ MHT appropriate for symptoms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INTERMEDIATE RISK: Age &lt;60, 1-2 risk factors, CAC 1-99, ASCVD &lt;10%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→ MHT reasonable with shared decision-making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HIGH RISK: Age ≥60, multiple risk factors, CAC 100-400, ASCVD 10-20%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→ MHT generally not recommended; consider alternatives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VERY HIGH RISK: Established ASCVD, CAC &gt;400, ASCVD &gt;20%, VTE history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→ MHT CONTRAINDICATED regardless of symptoms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Route of Administration: Critical Consideration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76D2"/>
                </a:solidFill>
              </a:defRPr>
            </a:pPr>
            <a:r>
              <a:t>TRANSDERMAL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TRANSDERMAL ESTROGEN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Preferred in 2026 guidelines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Benefits: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50% ↓ VTE risk vs oral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Lower stroke risk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Less effect on clotting factors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No first-pass hepatic metabolism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Better lipid profile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Ideal for: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All women if tolerated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Especially: obesity, age &gt;60,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  diabetes, migraine, high TG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371600"/>
            <a:ext cx="4114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200" b="1">
                <a:solidFill>
                  <a:srgbClr val="1976D2"/>
                </a:solidFill>
              </a:defRPr>
            </a:pPr>
            <a:r>
              <a:t>ORAL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ORAL ESTROGEN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Alternative if transdermal not tolerated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Concerns: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Higher VTE risk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Increases triglycerides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↑ inflammatory markers (CRP)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First-pass liver effects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Progestogen: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Micronized progesterone preferred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More neutral CV profile vs synthetic</a:t>
            </a:r>
          </a:p>
          <a:p>
            <a:pPr>
              <a:spcAft>
                <a:spcPts val="800"/>
              </a:spcAft>
              <a:defRPr sz="1600">
                <a:solidFill>
                  <a:srgbClr val="363636"/>
                </a:solidFill>
              </a:defRPr>
            </a:pPr>
            <a:r>
              <a:t>• 200 mg nightly for intact uterus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2026 Recommendations: Early Menopausal Women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FOR WOMEN &lt;60 YEARS OR &lt;10 YEARS POST-MENOPAUSE: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MHT is APPROPRIATE for moderate-to-severe vasomotor symptoms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Do NOT withhold due to cardiovascular concerns in low-risk women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Preferred regimen: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Transdermal estradiol 0.025-0.05 mg/day (lowest effective dose)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+ Micronized progesterone 200 mg nightly (if uterus intact)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Duration: Continue as long as benefits outweigh risks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No arbitrary time limit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Re-evaluate annually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Consider tapering after 5-7 years if asymptomatic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2026 Recommendations: Late Menopausal Women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FOR WOMEN &gt;60 YEARS OR &gt;10 YEARS POST-MENOPAUSE: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Do NOT initiate MHT without comprehensive cardiovascular assessment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If severe persistent symptoms: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Perform thorough CV risk stratification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Consider CAC scoring if available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If low-intermediate risk: shared decision-making may support trial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Use lowest dose transdermal estrogen (0.025 mg/day)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If already on MHT and well-tolerated: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Continuation reasonable in low-risk women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Reassess CV risk annually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Consider non-hormonal alternatives first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Absolute Contraindications to MHT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Established cardiovascular disease: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Prior MI, stroke, TIA, or revascularization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Active or history of venous thromboembolism (VTE)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Known thrombophilia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Active liver disease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Estrogen-dependent malignancies (current or recent)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Undiagnosed vaginal bleeding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Pregnancy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NOTE: Removal of FDA black box warnings does NOT mean MHT is safe for everyone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Special Case: Premature/Early Menopause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Age &lt;40 (premature) or &lt;45 (early menopause):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MHT is STRONGLY RECOMMENDED until at least age 50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Rationale: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Mitigates long-term cardiovascular risk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Prevents accelerated bone loss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Protects cognitive function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Reduces all-cause mortality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Higher doses appropriate (replicate premenopausal levels)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Standard cardiovascular contraindications do NOT apply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This is hormone replacement, not supplementation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Case 1: Recently Menopausal, Severe Symptoms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52-year-old, 18 months post-menopause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Severe hot flashes (15-20/day), night sweats, sleep disruption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No medical history, normal BMI, BP 118/72, LDL 105, glucose 92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Quality of life severely impacted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RECOMMENDATION: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✓ IDEAL candidate for MHT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✓ Transdermal estradiol 0.05 mg/day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✓ Micronized progesterone 200 mg nightly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✓ Minimal CV risk at her age and timing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✓ Continue as long as benefits persist, no arbitrary time limit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Case 2: Remote from Menopause, Wants MHT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64-year-old, 16 years post-menopause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Persistent hot flashes, avoided MHT due to old black box warnings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Well-controlled hypertension (125/78), BMI 28, LDL 115, no diabetes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Requests MHT now that warnings removed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RECOMMENDATION: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⚠ Requires careful individualized assessment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• Calculate 10-year ASCVD risk (likely 5-10% = low-intermediate)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• Obtain CAC score if available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• If CAC &lt;100: shared decision-making may support trial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• Low-dose transdermal estradiol 0.025 mg/day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• Also discuss non-hormonal alternatives (fezolinetant, paroxetine)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• Aggressive risk factor management essential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Case 3: Established CVD, Severe Symptoms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58-year-old, 6 years post-menopause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Non-STEMI 2 years ago, stents in place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On dual antiplatelet therapy, statin, beta-blocker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Severe vasomotor symptoms impacting quality of life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Asks about MHT now that 'warnings are gone'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RECOMMENDATION: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✗ MHT remains CONTRAINDICATED in established CVD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✗ FDA label change does NOT make MHT safe for everyone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✓ Recommend non-hormonal approaches: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 • Fezolinetant (neurokinin-3 receptor antagonist)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 • Paroxetine, gabapentin, CBT, lifestyle modifications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✓ Optimize cardiovascular medications and risk factors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The Paradigm Shift: 2002 to 2026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2002-2015: Fear-based universal avoidance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'Hormone therapy causes heart disease'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MHT prescriptions dropped 66%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Millions suffered unnecessarily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2026: Evidence-based individualized care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'Timing is paramount'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MHT appropriate for right patient at right time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Comprehensive risk stratification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Route and formulation matter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Shared decision-making essential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From 'one-size-fits-all prohibition' to 'personalized medicine'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Five Key Principles (2026)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1. TIMING IS PARAMOUNT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 Same intervention → different outcomes based on when initiated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2. MHT IS NOT CARDIOVASCULAR PREVENTION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 Don't prescribe solely to prevent heart disease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3. ROUTE MATTERS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 Transdermal safer than oral for most CV outcomes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4. INDIVIDUALIZATION IS ESSENTIAL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 Risk assessment + shared decision-making required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5. SYMPTOMS MATTER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 Severe VMS associated with CV risk and justify treatment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Remaining Questions and Future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Optimal duration: Do long-term users (15-20 years) maintain benefits?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Personalized medicine: Can genetics identify who will benefit most?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Contemporary formulations: Do transdermal + micronized progesterone show superior outcomes in RCTs?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Heart failure: What is MHT's impact on HFpEF in postmenopausal women?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Racial/ethnic differences: Does timing hypothesis apply equally across diverse populations?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Non-hormonal alternatives: Long-term CV safety of fezolinetant and other new agents?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D47A1"/>
                </a:solidFill>
              </a:defRPr>
            </a:pPr>
            <a:r>
              <a:t>Conclusions: 10 Years of Progress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371600"/>
            <a:ext cx="7772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The timing hypothesis has been validated and refined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FDA's November 2025 black box warning removal marks new era in women's health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For appropriate candidates (age &lt;60, &lt;10 years post-menopause):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MHT is safe and effective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Does not increase—may reduce—cardiovascular risk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For women remote from menopause or with CVD: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  • MHT generally not appropriate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The era of one-size-fits-all recommendations is over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The future is individualized, evidence-based, woman-centered care</a:t>
            </a: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</a:p>
          <a:p>
            <a:pPr>
              <a:spcAft>
                <a:spcPts val="1200"/>
              </a:spcAft>
              <a:defRPr sz="1800">
                <a:solidFill>
                  <a:srgbClr val="363636"/>
                </a:solidFill>
              </a:defRPr>
            </a:pPr>
            <a:r>
              <a:t>That future has arrived.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